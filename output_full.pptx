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KR Black"/>
              </a:rPr>
              <a:t>AI 기반 업무방식으로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KR Black"/>
              </a:rPr>
              <a:t>인당 생산성을 혁신한다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BBBBB"/>
                </a:solidFill>
                <a:latin typeface="Noto Sans KR"/>
              </a:rPr>
              <a:t>day1company 전사 AI 전환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BBBBB"/>
                </a:solidFill>
                <a:latin typeface="Noto Sans KR"/>
              </a:rPr>
              <a:t>발표자  </a:t>
            </a:r>
            <a:r>
              <a:rPr sz="1200" b="1">
                <a:solidFill>
                  <a:srgbClr val="BBBBBB"/>
                </a:solidFill>
                <a:latin typeface="Noto Sans KR"/>
              </a:rPr>
              <a:t>CAIO</a:t>
            </a:r>
            <a:r>
              <a:rPr sz="1200" b="0">
                <a:solidFill>
                  <a:srgbClr val="BBBBBB"/>
                </a:solidFill>
                <a:latin typeface="Noto Sans KR"/>
              </a:rPr>
              <a:t>    |    </a:t>
            </a:r>
            <a:r>
              <a:rPr sz="1200" b="0">
                <a:solidFill>
                  <a:srgbClr val="BBBBBB"/>
                </a:solidFill>
                <a:latin typeface="Noto Sans KR"/>
              </a:rPr>
              <a:t>2026-03-23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글로벌 선도 기업들은 AI로 비용 구조 자체를 전환 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15361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45336"/>
            <a:ext cx="1536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KR Black"/>
              </a:rPr>
              <a:t>Klarna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15361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808080"/>
                </a:solidFill>
                <a:latin typeface="Noto Sans KR"/>
              </a:rPr>
              <a:t>핀테크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536192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53619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 Black"/>
              </a:rPr>
              <a:t>-47%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15361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BBBB"/>
                </a:solidFill>
                <a:latin typeface="Noto Sans KR"/>
              </a:rPr>
              <a:t>5,527→2,907명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1536192" cy="5943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15361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인당 매출 73%↑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1508760"/>
            <a:ext cx="15361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1545336"/>
            <a:ext cx="1536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KR Black"/>
              </a:rPr>
              <a:t>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801368"/>
            <a:ext cx="15361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808080"/>
                </a:solidFill>
                <a:latin typeface="Noto Sans KR"/>
              </a:rPr>
              <a:t>핀테크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2011680"/>
            <a:ext cx="1536192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7712" y="2148840"/>
            <a:ext cx="153619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 Black"/>
              </a:rPr>
              <a:t>-40%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670048"/>
            <a:ext cx="15361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BBBB"/>
                </a:solidFill>
                <a:latin typeface="Noto Sans KR"/>
              </a:rPr>
              <a:t>10K→6K명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3017520"/>
            <a:ext cx="1536192" cy="5943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67712" y="3127248"/>
            <a:ext cx="15361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연 $600M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95344" y="1508760"/>
            <a:ext cx="15361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1545336"/>
            <a:ext cx="1536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KR Black"/>
              </a:rPr>
              <a:t>Amazon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1801368"/>
            <a:ext cx="15361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808080"/>
                </a:solidFill>
                <a:latin typeface="Noto Sans KR"/>
              </a:rPr>
              <a:t>클라우드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95344" y="2011680"/>
            <a:ext cx="1536192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5344" y="2148840"/>
            <a:ext cx="153619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 Black"/>
              </a:rPr>
              <a:t>-30K명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344" y="2670048"/>
            <a:ext cx="15361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BBBB"/>
                </a:solidFill>
                <a:latin typeface="Noto Sans KR"/>
              </a:rPr>
              <a:t>Project Dawn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95344" y="3017520"/>
            <a:ext cx="1536192" cy="5943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5344" y="3127248"/>
            <a:ext cx="15361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$2.1~3.6B 절감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2976" y="1508760"/>
            <a:ext cx="15361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2976" y="1545336"/>
            <a:ext cx="1536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KR Black"/>
              </a:rPr>
              <a:t>Shopify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1801368"/>
            <a:ext cx="15361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808080"/>
                </a:solidFill>
                <a:latin typeface="Noto Sans KR"/>
              </a:rPr>
              <a:t>이커머스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2976" y="2011680"/>
            <a:ext cx="1536192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22976" y="2148840"/>
            <a:ext cx="153619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 Black"/>
              </a:rPr>
              <a:t>-30%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2976" y="2670048"/>
            <a:ext cx="15361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BBBB"/>
                </a:solidFill>
                <a:latin typeface="Noto Sans KR"/>
              </a:rPr>
              <a:t>11.6K→8.1K명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3017520"/>
            <a:ext cx="1536192" cy="5943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22976" y="3127248"/>
            <a:ext cx="15361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인당 매출 127%↑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1508760"/>
            <a:ext cx="15361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608" y="1545336"/>
            <a:ext cx="1536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Noto Sans KR Black"/>
              </a:rPr>
              <a:t>Duolingo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1801368"/>
            <a:ext cx="15361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808080"/>
                </a:solidFill>
                <a:latin typeface="Noto Sans KR"/>
              </a:rPr>
              <a:t>에듀테크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50608" y="2011680"/>
            <a:ext cx="1536192" cy="10058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2148840"/>
            <a:ext cx="153619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 Black"/>
              </a:rPr>
              <a:t>4~5x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2670048"/>
            <a:ext cx="153619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BBBB"/>
                </a:solidFill>
                <a:latin typeface="Noto Sans KR"/>
              </a:rPr>
              <a:t>외주→AI 전환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50608" y="3017520"/>
            <a:ext cx="1536192" cy="5943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3127248"/>
            <a:ext cx="15361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해고 0명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AI '도입'이 아닌 비용 구조 자체의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채용과 운영의 New Normal: 사람을 늘리지 않고 AI로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73152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패턴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1A1A"/>
                </a:solidFill>
                <a:latin typeface="Noto Sans KR"/>
              </a:rPr>
              <a:t>퇴사·결원 시 → 충원 대신 AI 효율화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05840" cy="4389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퇴사·결원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228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20" y="1965960"/>
            <a:ext cx="1005840" cy="4389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Noto Sans KR"/>
              </a:rPr>
              <a:t>충원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2185416"/>
            <a:ext cx="822960" cy="1905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228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65960"/>
            <a:ext cx="1005840" cy="43891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AI 효율화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Noto Sans KR"/>
              </a:rPr>
              <a:t>Klarna  </a:t>
            </a:r>
            <a:r>
              <a:rPr sz="1000">
                <a:solidFill>
                  <a:srgbClr val="1A1A1A"/>
                </a:solidFill>
                <a:latin typeface="Noto Sans KR"/>
              </a:rPr>
              <a:t>47% 감소, 인당 매출 73%↑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Noto Sans KR"/>
              </a:rPr>
              <a:t>Block  </a:t>
            </a:r>
            <a:r>
              <a:rPr sz="1000">
                <a:solidFill>
                  <a:srgbClr val="1A1A1A"/>
                </a:solidFill>
                <a:latin typeface="Noto Sans KR"/>
              </a:rPr>
              <a:t>40% 감축, 연 $600M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Noto Sans KR"/>
              </a:rPr>
              <a:t>Duolingo  </a:t>
            </a:r>
            <a:r>
              <a:rPr sz="1000">
                <a:solidFill>
                  <a:srgbClr val="1A1A1A"/>
                </a:solidFill>
                <a:latin typeface="Noto Sans KR"/>
              </a:rPr>
              <a:t>외주→AI, 생산량 4~5배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508760"/>
            <a:ext cx="73152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패턴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087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인력 필요 시 → 채용 대신 AI 생산성 증대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965960"/>
            <a:ext cx="1005840" cy="4389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인력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965960"/>
            <a:ext cx="228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965960"/>
            <a:ext cx="1005840" cy="4389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Noto Sans KR"/>
              </a:rPr>
              <a:t>채용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185416"/>
            <a:ext cx="822960" cy="1905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965960"/>
            <a:ext cx="228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965960"/>
            <a:ext cx="1005840" cy="43891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AI 생산성↑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060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Noto Sans KR"/>
              </a:rPr>
              <a:t>Shopify  </a:t>
            </a:r>
            <a:r>
              <a:rPr sz="1000">
                <a:solidFill>
                  <a:srgbClr val="1A1A1A"/>
                </a:solidFill>
                <a:latin typeface="Noto Sans KR"/>
              </a:rPr>
              <a:t>AI 불가 소명 의무, 인당 매출 127%↑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834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Noto Sans KR"/>
              </a:rPr>
              <a:t>Amazon  </a:t>
            </a:r>
            <a:r>
              <a:rPr sz="1000">
                <a:solidFill>
                  <a:srgbClr val="1A1A1A"/>
                </a:solidFill>
                <a:latin typeface="Noto Sans KR"/>
              </a:rPr>
              <a:t>30K 감축 + AI에 $125B 투자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0632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Noto Sans KR"/>
              </a:rPr>
              <a:t>Klarna  </a:t>
            </a:r>
            <a:r>
              <a:rPr sz="1000">
                <a:solidFill>
                  <a:srgbClr val="1A1A1A"/>
                </a:solidFill>
                <a:latin typeface="Noto Sans KR"/>
              </a:rPr>
              <a:t>마케팅팀 50%↓, 캠페인 수↑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77639"/>
            <a:ext cx="78638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결과: 남은 인력 → 더 높은 급여 (Klarna 60%↑) + 더 높은 인당 생산성 + 더 높은 가치의 업무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오늘의 논의: AI 전환 전략의 구조, 실행, 의사결정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4752" y="1508760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0876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AI 시대, 비용 구조가 바뀌고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5087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1~7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9384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52" y="1929384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AI 전환 전략 프레임워크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9384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8~12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2350008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35000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Layer 1 — 첫 프로젝트 선정과 2개월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50008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13~18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0632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4752" y="2770632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770632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Layer 2 — 전사 AI 활용 제도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70632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19~23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91256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4752" y="3191256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191256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통합 로드맵과 기대 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91256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24~26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4752" y="3611880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61188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예상 리스크와 대응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118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27~29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32504"/>
            <a:ext cx="73152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Part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4752" y="4032504"/>
            <a:ext cx="621792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03250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Noto Sans KR"/>
              </a:rPr>
              <a:t>의사결정 요청 +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32504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55"/>
                </a:solidFill>
                <a:latin typeface="Noto Sans KR"/>
              </a:rPr>
              <a:t>30~32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L1 첫 프로젝트 선정 + L2 제도 도입 승인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우리가 성장한 방식으로 추월 당할 수 있다는 위기감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514600"/>
            <a:ext cx="786384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331720"/>
            <a:ext cx="91440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지금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55555"/>
                </a:solidFill>
                <a:latin typeface="Noto Sans KR"/>
              </a:rPr>
              <a:t>2010년대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256032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day1company (Digital-native)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── 추월 ──▶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2560320" cy="3657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KR"/>
              </a:rPr>
              <a:t>기존 교육업계 (오프라인)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697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55555"/>
                </a:solidFill>
                <a:latin typeface="Noto Sans KR"/>
              </a:rPr>
              <a:t>202X년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508760"/>
            <a:ext cx="256032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AI-Native 신규 진입자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9659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── 추월 ──▶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240280"/>
            <a:ext cx="2560320" cy="3657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KR"/>
              </a:rPr>
              <a:t>day1company (현재)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7863840" cy="10972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7498079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Noto Sans KR"/>
              </a:rPr>
              <a:t>과거: day1company는 Digital-native 조직으로서 기존 교육업계를 추월했다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현재: AI-Native 조직들이 처음부터 AI를 전제로 설계 — 10명이 100명분의 일을 처리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결론: Digital-native에서 AI-native로의 전환은 경쟁 우위를 유지하기 위한 필수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업무 방식 전환이 경쟁력의 유일한 방법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매출이 성장하면 인건비도 비례하여 증가하는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월간 반복 업무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매출 정산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828800"/>
            <a:ext cx="31089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828800"/>
            <a:ext cx="777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Noto Sans KR"/>
              </a:rPr>
              <a:t>~32h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비용 정산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286000"/>
            <a:ext cx="233172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286000"/>
            <a:ext cx="777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1A1A1A"/>
                </a:solidFill>
                <a:latin typeface="Noto Sans KR"/>
              </a:rPr>
              <a:t>~24h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보고·집계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743200"/>
            <a:ext cx="155448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743200"/>
            <a:ext cx="777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>
                <a:solidFill>
                  <a:srgbClr val="1A1A1A"/>
                </a:solidFill>
                <a:latin typeface="Noto Sans KR"/>
              </a:rPr>
              <a:t>수시간~수일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데이터 가공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3200400"/>
            <a:ext cx="116586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8820" y="3200400"/>
            <a:ext cx="7772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1A1A1A"/>
                </a:solidFill>
                <a:latin typeface="Noto Sans KR"/>
              </a:rPr>
              <a:t>공통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성장 시 업무량 곱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사업부문 7 × 상품유형 6 = 42 조합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9824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11696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52944" y="21031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237744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9824" y="237744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70448" y="237744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237744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11696" y="237744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0" y="237744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944" y="237744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265176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9824" y="265176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70448" y="265176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91072" y="265176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11696" y="265176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0" y="265176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52944" y="265176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92608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49824" y="292608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70448" y="292608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292608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11696" y="292608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292608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52944" y="292608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320040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49824" y="320040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70448" y="320040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91072" y="320040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11696" y="320040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2320" y="320040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52944" y="320040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0" y="3474720"/>
            <a:ext cx="402336" cy="256032"/>
          </a:xfrm>
          <a:prstGeom prst="rect">
            <a:avLst/>
          </a:prstGeom>
          <a:solidFill>
            <a:srgbClr val="1A1A1A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49824" y="347472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70448" y="347472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91072" y="347472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711696" y="347472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2320" y="347472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52944" y="3474720"/>
            <a:ext cx="402336" cy="256032"/>
          </a:xfrm>
          <a:prstGeom prst="rect">
            <a:avLst/>
          </a:prstGeom>
          <a:solidFill>
            <a:srgbClr val="D9D9D9"/>
          </a:solidFill>
          <a:ln w="31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3794760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08080"/>
                </a:solidFill>
                <a:latin typeface="Noto Sans KR"/>
              </a:rPr>
              <a:t>각 칸 = 정산·보고 1건 → 사업 확장 시 칸이 늘어남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3977639"/>
            <a:ext cx="78638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</a:rPr>
              <a:t>7개 사업부문 | 인당 매출 2.34억 원 (25년 연말 기준) | 매출↑ = 인건비↑ 구조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매출↑ = 인건비↑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AI 전환은 '성장 → 인력 추가' 고리를 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Before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371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KR"/>
              </a:rPr>
              <a:t>사업 성장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783080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783080"/>
            <a:ext cx="1371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KR"/>
              </a:rPr>
              <a:t>업무량↑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83080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83080"/>
            <a:ext cx="1371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KR"/>
              </a:rPr>
              <a:t>인력 채용↑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1371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KR"/>
              </a:rPr>
              <a:t>인건비↑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97480"/>
            <a:ext cx="11430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Noto Sans KR"/>
              </a:rPr>
              <a:t>사업 성장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697480"/>
            <a:ext cx="274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697480"/>
            <a:ext cx="11430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Noto Sans KR"/>
              </a:rPr>
              <a:t>업무량↑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74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2697480"/>
            <a:ext cx="11430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AI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697480"/>
            <a:ext cx="274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2697480"/>
            <a:ext cx="11430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Noto Sans KR"/>
              </a:rPr>
              <a:t>인력 동결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2743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80"/>
            <a:ext cx="11430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인당 생산성↑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3200400"/>
            <a:ext cx="3200400" cy="9144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2004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1A1A"/>
                </a:solidFill>
                <a:latin typeface="Noto Sans KR Black"/>
              </a:rPr>
              <a:t>인당 매출 28%↑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657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Noto Sans KR"/>
              </a:rPr>
              <a:t>2.34억 → 3억 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9319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808080"/>
                </a:solidFill>
                <a:latin typeface="Noto Sans KR"/>
              </a:rPr>
              <a:t>참고: Klarna 73%↑ / Shopify 127%↑ 대비 보수적 목표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3756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달성 경로: Layer 1 (반복 업무 자동화) + Layer 2 (전사 AI 활용 제도)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보수적 목표 — 실행 방법을 지금부터 설명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전사 AI 전환은 Top-down과 Bottom-up, 두 가지 Layer로 진행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3840480" cy="25603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1848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Noto Sans KR Black"/>
              </a:rPr>
              <a:t>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구조화 자동화 (온톨로지 기반)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4747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예시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매출 정산, 강사료 정산, 광고비 정산, 손익 보고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출력 성격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결정적 — 같은 입력이면 항상 같은 결과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추진 주체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CAIO 주도 (Top-down)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508760"/>
            <a:ext cx="3840480" cy="25603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61848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Noto Sans KR Black"/>
              </a:rP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AI 도구 활용 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86000"/>
            <a:ext cx="34747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예시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상세페이지 생성, 고객 응대, 회의록, 보고서 초안, 번역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출력 성격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Noto Sans KR"/>
              </a:rPr>
              <a:t>확률적 — 매번 다른 결과 가능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Noto Sans KR"/>
              </a:rPr>
              <a:t>추진 주체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각 부서 자율 (Bottom-up)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105656"/>
            <a:ext cx="109728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⟷ 상호보완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Top-down + Bottom-up 병행 구조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Layer 2의 부서별 성과가 Layer 1에 편입될 때 지속 가능한 절감 가능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3120" y="1993392"/>
            <a:ext cx="146304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L1: 전사 구조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2596896"/>
            <a:ext cx="146304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부서별 AI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3200400"/>
            <a:ext cx="146304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L2: 부서 성과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596896"/>
            <a:ext cx="146304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성과 → L1 편입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8980" y="235000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4620" y="295351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5980" y="295351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5980" y="235000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Noto Sans KR"/>
              </a:rPr>
              <a:t>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600200"/>
            <a:ext cx="256032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600200"/>
            <a:ext cx="2880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1A1A"/>
                </a:solidFill>
                <a:latin typeface="Noto Sans KR"/>
              </a:rPr>
              <a:t>Top-down + Bottom-up = 전사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856232"/>
            <a:ext cx="2880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Noto Sans KR"/>
              </a:rPr>
              <a:t>CAIO가 구조를 만들고,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Noto Sans KR"/>
              </a:rPr>
              <a:t>부서가 그 위에서 AI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377440"/>
            <a:ext cx="256032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377440"/>
            <a:ext cx="2880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L2 → L1 편입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33472"/>
            <a:ext cx="2880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Noto Sans KR"/>
              </a:rPr>
              <a:t>부서 AI 성과가 반복·검증되면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Noto Sans KR"/>
              </a:rPr>
              <a:t>L1 워크플로우에 편입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3154680"/>
            <a:ext cx="256032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154680"/>
            <a:ext cx="2880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표준화 = 지식 보존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410712"/>
            <a:ext cx="2880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Noto Sans KR"/>
              </a:rPr>
              <a:t>사람 의존 → 시스템 전환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Noto Sans KR"/>
              </a:rPr>
              <a:t>인력 변동에도 유지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핵심: L2 부서 성과 → 반복·검증 → L1 시스템 편입 = 지속 가능한 절감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Layer 1의 데이터 구조화 + 자동화 방식은 글로벌 기업에서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1874519" cy="22860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81912"/>
            <a:ext cx="1874519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유형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60019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수작업 자동화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→ 인건비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160019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600199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AML 비용 90%↓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투자 리드 100배↑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간호사 편성 자동화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508760"/>
            <a:ext cx="1874519" cy="22860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581912"/>
            <a:ext cx="1874519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유형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1783080"/>
            <a:ext cx="160019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예측/최적화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→ 운영비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199" y="2377440"/>
            <a:ext cx="160019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2468880"/>
            <a:ext cx="1600199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BP $1B 절감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Tyson 적재율 46→87%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조달 최적화 $287.9M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1998" y="1508760"/>
            <a:ext cx="1874519" cy="22860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8" y="1581912"/>
            <a:ext cx="1874519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유형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8" y="1783080"/>
            <a:ext cx="160019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Noto Sans KR"/>
              </a:rPr>
              <a:t>오류/리스크 감소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→ 손실 방지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8" y="2377440"/>
            <a:ext cx="160019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8" y="2468880"/>
            <a:ext cx="1600199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배치 시간 83%↓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재원 기간 1.5일 단축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월 20병상 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57" y="1508760"/>
            <a:ext cx="1874519" cy="22860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7" y="1581912"/>
            <a:ext cx="1874519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유형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17" y="1783080"/>
            <a:ext cx="1600199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AIP Bootcamp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5일 만에 성과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17" y="2377440"/>
            <a:ext cx="160019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7" y="2468880"/>
            <a:ext cx="1600199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2일→$10M 절감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5일→7개 ERP 통합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첫 해 $100M 예상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77639"/>
            <a:ext cx="7863840" cy="36576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77639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Noto Sans KR"/>
              </a:rPr>
              <a:t>day1company 시사점: </a:t>
            </a:r>
            <a:r>
              <a:rPr sz="1200">
                <a:solidFill>
                  <a:srgbClr val="1A1A1A"/>
                </a:solidFill>
                <a:latin typeface="Noto Sans KR"/>
              </a:rPr>
              <a:t>유형 1(수작업 자동화)이 Layer 1 첫 프로젝트에 직접 대응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Layer 2의 핵심은 기술이 아니라 제도 — 이 기업들은 제도를 먼저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1874519" cy="1463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81912"/>
            <a:ext cx="187451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 Black"/>
              </a:rPr>
              <a:t>Klarna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16916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채용 동결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보상 재설계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13432"/>
            <a:ext cx="150875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87451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인당 매출 73%↑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급여 60%↑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508760"/>
            <a:ext cx="1874519" cy="1463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581912"/>
            <a:ext cx="187451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 Black"/>
              </a:rPr>
              <a:t>Shopify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1856232"/>
            <a:ext cx="16916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평가 체계에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AI 활용 내장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19" y="2313432"/>
            <a:ext cx="150875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2377440"/>
            <a:ext cx="187451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인당 매출 127%↑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매출 91%↑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1998" y="1508760"/>
            <a:ext cx="1874519" cy="1463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8" y="1581912"/>
            <a:ext cx="187451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 Black"/>
              </a:rPr>
              <a:t>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8" y="1856232"/>
            <a:ext cx="16916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CEO 주도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전사 구조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8" y="2313432"/>
            <a:ext cx="150875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8" y="2377440"/>
            <a:ext cx="187451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40% 감축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$600M 절감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57" y="1508760"/>
            <a:ext cx="1874519" cy="1463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7" y="1581912"/>
            <a:ext cx="1874519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 Black"/>
              </a:rPr>
              <a:t>Duolingo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7" y="1856232"/>
            <a:ext cx="169163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외주 전환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내부 생산성 집중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37" y="2313432"/>
            <a:ext cx="1508759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7" y="2377440"/>
            <a:ext cx="187451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해고 0명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Noto Sans KR"/>
              </a:rPr>
              <a:t>생산량 4~5x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Noto Sans KR Black"/>
              </a:rPr>
              <a:t>글로벌 기업 제도 → day1company 대응 제도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3840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채용 기준 변경 (Klarna, Shopify, Block)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66160"/>
            <a:ext cx="274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566160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AI-First 채용 원칙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40480"/>
            <a:ext cx="3840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평가 체계 연동 (Shopify)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840480"/>
            <a:ext cx="274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840480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1A1A"/>
                </a:solidFill>
                <a:latin typeface="Noto Sans KR"/>
              </a:rPr>
              <a:t>생산성 KPI 의무화 + 동일 직무 경쟁 평가제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14800"/>
            <a:ext cx="3840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보상 재설계 (Klarna)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114800"/>
            <a:ext cx="274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114800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AI 챔피언 제도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389120"/>
            <a:ext cx="3840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CEO 직접 주도 (Block, Amazon)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389120"/>
            <a:ext cx="274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389120"/>
            <a:ext cx="36576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CAIO + C-Level 정기 리뷰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Layer 1은 2개월 안에 완성하고, Layer 2는 즉시 시작한다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08760"/>
            <a:ext cx="23774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1단계 | Month 1~2 — 빠른 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93392"/>
            <a:ext cx="502920" cy="1828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377440" cy="6675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31136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매출 정산 → 강사료 → 광고비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3개 영역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502920" cy="1828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72968"/>
            <a:ext cx="2377440" cy="6675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9544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4가지 제도 동시 도입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(채용·KPI·경쟁평가·챔피언)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3774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2단계 | Month 3~6 — 고도화 + 확장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993392"/>
            <a:ext cx="502920" cy="1828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377440" cy="6675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231136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피드백 반영 고도화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추가 영역(변동비, 손익) 확장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971800"/>
            <a:ext cx="502920" cy="1828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172968"/>
            <a:ext cx="2377440" cy="6675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09544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부서별 AI 활용 사례 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표준화 가능 건 → L1 편입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86000"/>
            <a:ext cx="91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508760"/>
            <a:ext cx="23774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3단계 | Month 7~ — 정착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993392"/>
            <a:ext cx="502920" cy="1828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194560"/>
            <a:ext cx="2377440" cy="6675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231136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전사 데이터 기반 구축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AI 의사결정 보조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971800"/>
            <a:ext cx="502920" cy="1828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L2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172968"/>
            <a:ext cx="2377440" cy="66751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209544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AI가 일상 업무 방식으로 정착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자생적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862072"/>
            <a:ext cx="2377440" cy="1280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▲ L2 성과 → L1 편입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승인 시 L1은 내일 착수, L2는 즉시 시행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검증된 아키텍처 위에 빠르게 구축, 결과를 바로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Palantir Foundry 5계층 참조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37160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1. 데이터</a:t>
            </a:r>
            <a:br/>
            <a:r>
              <a:t>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83080"/>
            <a:ext cx="274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783080"/>
            <a:ext cx="1371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2. 정제</a:t>
            </a:r>
            <a:br/>
            <a:r>
              <a:t>가공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74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783080"/>
            <a:ext cx="1371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3. 비즈니스</a:t>
            </a:r>
            <a:br/>
            <a:r>
              <a:t>매핑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783080"/>
            <a:ext cx="274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783080"/>
            <a:ext cx="137160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4.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83080"/>
            <a:ext cx="274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783080"/>
            <a:ext cx="137160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5. AI</a:t>
            </a:r>
            <a:br/>
            <a:r>
              <a:t>의사결정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3172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C3333"/>
                </a:solidFill>
                <a:latin typeface="Noto Sans KR"/>
              </a:rPr>
              <a:t>현재 day1company 위치: 계층 2~3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데이터 3계층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A. Master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260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926080"/>
            <a:ext cx="237744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B.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9260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926080"/>
            <a:ext cx="237744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C. Accounting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Noto Sans KR"/>
              </a:rPr>
              <a:t>Master Data를 첫 2주 안에 안정화 → 이후 프로젝트에서 재활용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검증된 아키텍처 위에 빠르게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8개 후보 중 실질 후보 3개 선별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  <a:latin typeface="Noto Sans KR"/>
              </a:rPr>
              <a:t>매출 정산 | 비용 정산(강사료) | 광고비 | 변동비 | 손익 보고 | 수강 현황 | B2B/B2G | ERP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2011680"/>
            <a:ext cx="274320" cy="91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▼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640080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  <a:latin typeface="Noto Sans KR"/>
              </a:rPr>
              <a:t>변동비 (선행)  |  손익 (선행)  |  수강 (운영)  |  B2B (매출)  |  ERP (인프라)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606040"/>
            <a:ext cx="274320" cy="91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697480"/>
            <a:ext cx="45720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A. 매출 정산  |  C. 광고비 집계  |  G. 인건비 정산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 Black"/>
              </a:rPr>
              <a:t>선정 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39312"/>
            <a:ext cx="1874519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비용 절감 가시성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3639312"/>
            <a:ext cx="1874519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독립 구축 가능성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8" y="3639312"/>
            <a:ext cx="1874519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경영진 체감도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57" y="3639312"/>
            <a:ext cx="1874519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후속 확장 기반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비용 절감 + 독립 구축 가능 3개 선별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가장 빠르고 확실한 성과가 기대되는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1645920" cy="3200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508760"/>
            <a:ext cx="2011680" cy="3200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A. 매출 정산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508760"/>
            <a:ext cx="20116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C. 광고비 집계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20116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G. 인건비 정산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64592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수작업 시간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2011680" cy="320040"/>
          </a:xfrm>
          <a:prstGeom prst="rect">
            <a:avLst/>
          </a:prstGeom>
          <a:solidFill>
            <a:srgbClr val="E8E8E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월 ~32시간 (4일)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조사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조사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64592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비용 절감 가시성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148840"/>
            <a:ext cx="2011680" cy="320040"/>
          </a:xfrm>
          <a:prstGeom prst="rect">
            <a:avLst/>
          </a:prstGeom>
          <a:solidFill>
            <a:srgbClr val="E8E8E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488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조사 후 확정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488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조사 후 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독립 구축 가능성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468880"/>
            <a:ext cx="2011680" cy="320040"/>
          </a:xfrm>
          <a:prstGeom prst="rect">
            <a:avLst/>
          </a:prstGeom>
          <a:solidFill>
            <a:srgbClr val="E8E8E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88920"/>
            <a:ext cx="164592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경영진 체감도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88920"/>
            <a:ext cx="2011680" cy="320040"/>
          </a:xfrm>
          <a:prstGeom prst="rect">
            <a:avLst/>
          </a:prstGeom>
          <a:solidFill>
            <a:srgbClr val="E8E8E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889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★★~★★★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08960"/>
            <a:ext cx="164592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후속 확장 기반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108960"/>
            <a:ext cx="2011680" cy="320040"/>
          </a:xfrm>
          <a:prstGeom prst="rect">
            <a:avLst/>
          </a:prstGeom>
          <a:solidFill>
            <a:srgbClr val="E8E8E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1089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1089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164592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Palantir 유형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429000"/>
            <a:ext cx="2011680" cy="320040"/>
          </a:xfrm>
          <a:prstGeom prst="rect">
            <a:avLst/>
          </a:prstGeom>
          <a:solidFill>
            <a:srgbClr val="E8E8E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유형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4290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유형 1+2 혼합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290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유형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KR"/>
              </a:rPr>
              <a:t>CAIO 권고: 매출 정산 자동화 — 현재 확보된 데이터 기준으로 가장 빠르고 확실한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최종 결정은 경영진의 판단 사항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매출 정산을 선택할 경우, 이것이 해결해야 할 구체적인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KR Black"/>
              </a:rPr>
              <a:t>월 32시간 (4일)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BBBBBB"/>
                </a:solidFill>
                <a:latin typeface="Noto Sans KR"/>
              </a:rPr>
              <a:t>매출 정산에 매월 소요되는 시간</a:t>
            </a:r>
            <a:br/>
            <a:r>
              <a:t>비용 정산 3일(24시간)은 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840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현재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78608"/>
            <a:ext cx="82296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ERP</a:t>
            </a:r>
            <a:br/>
            <a:r>
              <a:t>다운로드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78608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2578608"/>
            <a:ext cx="82296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수작업</a:t>
            </a:r>
            <a:br/>
            <a:r>
              <a:t>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78608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78608"/>
            <a:ext cx="82296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수작업</a:t>
            </a:r>
            <a:br/>
            <a:r>
              <a:t>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78608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2578608"/>
            <a:ext cx="82296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3172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상품유형별 매출 인식 방식 — 6가지가 모두 다름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578608"/>
            <a:ext cx="1170432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단건 수강권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2578608"/>
            <a:ext cx="1170432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구독형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578608"/>
            <a:ext cx="1170432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B2B 계약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99232"/>
            <a:ext cx="1170432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환불/부분취소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2999232"/>
            <a:ext cx="1170432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번들 상품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2999232"/>
            <a:ext cx="1170432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Noto Sans KR"/>
              </a:rPr>
              <a:t>제휴/입점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7"/>
            <a:ext cx="74980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규칙이 명확하지만 수작업으로 반복 — 6가지 상품유형 × 7개 사업부문 = 42가지 조합을 수동 처리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Noto Sans KR"/>
              </a:rPr>
              <a:t>Palantir 유형 1(수작업 자동화)과 동일한 구조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수작업 반복 — Palantir 유형 1과 동일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2개월 안에 3개 영역을 완성한다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6192" y="1508760"/>
            <a:ext cx="16870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Week 1~2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6412" y="1508760"/>
            <a:ext cx="16870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Week 3~4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56632" y="1508760"/>
            <a:ext cx="16870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Week 5~6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6852" y="1508760"/>
            <a:ext cx="16870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Week 7~8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1A1A"/>
                </a:solidFill>
                <a:latin typeface="Noto Sans KR"/>
              </a:rPr>
              <a:t>매출 정산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6192" y="1856232"/>
            <a:ext cx="1687068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첫 작동 데모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6412" y="1856232"/>
            <a:ext cx="1687068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주력 사업부문</a:t>
            </a:r>
            <a:br/>
            <a:r>
              <a:t>완성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6632" y="1856232"/>
            <a:ext cx="1687068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  <a:latin typeface="Noto Sans KR"/>
              </a:rPr>
              <a:t>전체 완성</a:t>
            </a:r>
            <a:br/>
            <a:r>
              <a:t>+ 병행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6852" y="1856232"/>
            <a:ext cx="1687068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고도화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1A1A"/>
                </a:solidFill>
                <a:latin typeface="Noto Sans KR"/>
              </a:rPr>
              <a:t>강사료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2432304"/>
            <a:ext cx="1687068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설계 +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6852" y="2432304"/>
            <a:ext cx="1687068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08376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1A1A"/>
                </a:solidFill>
                <a:latin typeface="Noto Sans KR"/>
              </a:rPr>
              <a:t>광고비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6852" y="3008376"/>
            <a:ext cx="1687068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Noto Sans KR"/>
              </a:rPr>
              <a:t>착수 + 첫 작동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먼저 완성하고 결과를 보여준 뒤, 쓰면서 고도화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가장 큰 위험은 기술 실패가 아니라 결과에 대한 불신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성공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8404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속도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정산 시간 4일 → 1시간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38404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4144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수작업 대사 일치율 99%+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38404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3580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매출 금액 80%+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5087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실패 모드 방어선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828800"/>
            <a:ext cx="384048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84708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KR"/>
              </a:rPr>
              <a:t>불신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2996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Noto Sans KR"/>
              </a:rPr>
              <a:t>대사 자동화 + 불일치 원인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Noto Sans KR"/>
              </a:rPr>
              <a:t>투명 공개 + 담당자 판정 권한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423160"/>
            <a:ext cx="38404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44144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미사용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243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첫 주부터 담당자 참여 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Legacy 접근 권한 정리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017520"/>
            <a:ext cx="384048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03580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1A1A"/>
                </a:solidFill>
                <a:latin typeface="Noto Sans KR"/>
              </a:rPr>
              <a:t>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1868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2주 내 첫 작동 공개로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Noto Sans KR"/>
              </a:rPr>
              <a:t>모멘텀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방어선 설계 + 빠른 결과 공개가 최선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기술 도입이 아니라 제도 설계가 Layer 2의 본질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3474720" cy="6400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270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"/>
              </a:rPr>
              <a:t>유인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Noto Sans KR"/>
              </a:rPr>
              <a:t>AI 활용이 평가에 미반영 → 변화 거부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508760"/>
            <a:ext cx="3749039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제도 1, 2, 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474720" cy="6400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"/>
              </a:rPr>
              <a:t>신뢰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Noto Sans KR"/>
              </a:rPr>
              <a:t>외부 대상 산출물의 AI 품질 우려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231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286000"/>
            <a:ext cx="3749039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Layer 1 + 품질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3474720" cy="6400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8152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815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"/>
              </a:rPr>
              <a:t>유지보수 공백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Noto Sans KR"/>
              </a:rPr>
              <a:t>담당자 부재 시 기존 방식으로 회귀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3749039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제도 4 (AI 챔피언)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기술 도입이 아니라 제도 설계가 Layer 2의 본질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사람을 더 뽑는 것이 아니라, AI를 먼저 활용하는 것이 기본값이 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1463040" cy="5486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인력 충원</a:t>
            </a:r>
            <a:br/>
            <a:r>
              <a:t>요청 발생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320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645920"/>
            <a:ext cx="146304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AI로</a:t>
            </a:r>
            <a:br/>
            <a:r>
              <a:t>대체 가능?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645920"/>
            <a:ext cx="320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46304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AI 활용</a:t>
            </a:r>
            <a:br/>
            <a:r>
              <a:t>방안 수립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45920"/>
            <a:ext cx="320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Noto Sans K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645920"/>
            <a:ext cx="1463040" cy="5486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AI-Augmented</a:t>
            </a:r>
            <a:br/>
            <a:r>
              <a:t>JD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Noto Sans KR"/>
              </a:rPr>
              <a:t>예시: 5명 팀 → 1명 추가 요청 → AI 활용으로 인당 1.4개 런칭 소명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7680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A1A1A"/>
                </a:solidFill>
                <a:latin typeface="Noto Sans KR"/>
              </a:rPr>
              <a:t>채용: 단순 결원 충원 동결. 채용 요청 시 AI 활용 가능성 소명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7680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A1A1A"/>
                </a:solidFill>
                <a:latin typeface="Noto Sans KR"/>
              </a:rPr>
              <a:t>외주: AI 대체 가능 영역 외주 예산 재검토. 절감액 일부 팀 환원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7680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A1A1A"/>
                </a:solidFill>
                <a:latin typeface="Noto Sans KR"/>
              </a:rPr>
              <a:t>참고: Shopify "AI로 불가능한 이유를 먼저 증명", Klarna 자연 퇴직 시 AI 흡수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AI 먼저 활용이 기본값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모든 조직장에게 동일한 생산성 목표를 부여한다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0" y="1645920"/>
            <a:ext cx="50292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/>
              </a:rPr>
              <a:t>조직장 KPI — 인당 생산성 향상 목표 의무, 미달 시 고과 상위 등급 제한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76272"/>
            <a:ext cx="640080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조직 KPI — 미달 조직 → 조직 효율화 검토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06624"/>
            <a:ext cx="7680960" cy="45720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인센티브 — 최대 개선 부서 → 인센티브 지급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19856"/>
            <a:ext cx="786384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Noto Sans KR"/>
              </a:rPr>
              <a:t>설계 원리: "안 해도 되는 것" → "하지 않으면 불이익"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AI 활용이 선택이 아닌 필수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같은 일을 하는 팀 중 하나가 AI로 앞서면, 나머지는 따라와야 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45920"/>
            <a:ext cx="3200400" cy="10972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BBBBB"/>
                </a:solidFill>
                <a:latin typeface="Noto Sans KR"/>
              </a:rPr>
              <a:t>선도 부서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패캠 마케팅팀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oto Sans KR"/>
              </a:rPr>
              <a:t>AI로 캠페인 10→12건 (20%↑)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→ 고과 S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92024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CC3333"/>
                </a:solidFill>
                <a:latin typeface="Noto Sans KR"/>
              </a:rPr>
              <a:t>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645920"/>
            <a:ext cx="3200400" cy="10972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69164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5555"/>
                </a:solidFill>
                <a:latin typeface="Noto Sans KR"/>
              </a:rPr>
              <a:t>대상 부서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Noto Sans KR"/>
              </a:rPr>
              <a:t>콜로소 마케팅팀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20% 미달성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C3333"/>
                </a:solidFill>
                <a:latin typeface="Noto Sans KR"/>
              </a:rPr>
              <a:t>→ A 이상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 Black"/>
              </a:rPr>
              <a:t>측정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7680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월말 P&amp;L 기준으로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38144"/>
            <a:ext cx="7680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3개월 연속 달성 시 인정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8"/>
            <a:ext cx="7680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부서별 사전 정의 지표 (인당 처리량, 인당 산출물 수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AI로 앞선 팀이 기준이 되는 구조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챔피언은 부서의 변화를 이끄는 동시에, Layer 1과의 연결점이 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011680"/>
            <a:ext cx="18288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AI 챔피언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4114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① 부서 내 선도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1828800" cy="4114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② 동료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1828800" cy="4114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③ 사례 발굴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834640"/>
            <a:ext cx="1828800" cy="4114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④ Layer 1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1A1A"/>
                </a:solidFill>
                <a:latin typeface="Noto Sans KR"/>
              </a:rPr>
              <a:t>보상: 성과 평가 가점 + 별도 인센티브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Noto Sans KR"/>
              </a:rPr>
              <a:t>챔피언이 발굴 → CAIO에 전달 → L1 편입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챔피언이 변화를 이끌고 L1과 연결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Layer 1은 2개월 안에 완성하고, Layer 2는 즉시 시작한다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즉시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92807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9111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AI-First 채용 원칙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조직장 KPI 반영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508760"/>
            <a:ext cx="18288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Month 1~2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74519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892807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039111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매출 정산→강사료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→광고비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743200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276148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907792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AI 챔피언 1차 선정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동일 직무 그룹 지정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508760"/>
            <a:ext cx="18288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Month 3~6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874519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892807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039111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고도화 + 추가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영역 확장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743200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76148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907792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L2 성과 → L1 편입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분기 리뷰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508760"/>
            <a:ext cx="18288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Month 7~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74519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1892807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039111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전사 데이터 기반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AI 의사결정 보조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43200"/>
            <a:ext cx="18288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76148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907792"/>
            <a:ext cx="1682496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AI 일상화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oto Sans KR"/>
              </a:rPr>
              <a:t>자생적 운영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두 Layer가 합류하면서 상호 강화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Layer 1의 시간 절약 + Layer 2의 채용 동결 = 실질적 인건비 절감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1A"/>
                </a:solidFill>
                <a:latin typeface="Noto Sans KR"/>
              </a:rPr>
              <a:t>Layer 1 직접 효과 (측정 가능)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8404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매출 정산: 32h → 수시간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12848"/>
            <a:ext cx="38404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강사료 정산: 조사 후 확정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96896"/>
            <a:ext cx="38404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광고비 정산: 조사 후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1A"/>
                </a:solidFill>
                <a:latin typeface="Noto Sans KR"/>
              </a:rPr>
              <a:t>Layer 2 간접 효과 (환산)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828800"/>
            <a:ext cx="38404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채용 동결 → 인건비 자연 감소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212848"/>
            <a:ext cx="38404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외주비 절감 → 직접 비용 절감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596896"/>
            <a:ext cx="3840480" cy="32004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Noto Sans KR"/>
              </a:rPr>
              <a:t>부서별 생산성↑ → 동일 인원 더 많은 성과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 Black"/>
              </a:rPr>
              <a:t>인당 매출 2.34억 → 3억 (28%↑)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7863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BBBB"/>
                </a:solidFill>
                <a:latin typeface="Noto Sans KR"/>
              </a:rPr>
              <a:t>Klarna 73%↑ / Shopify 127%↑ 대비 보수적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인당 매출 3억 원은 달성 가능한 목표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CAIO가 구조를 설계하고, 조직이 스스로 성장하는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1A"/>
                </a:solidFill>
                <a:latin typeface="Noto Sans KR Black"/>
              </a:rPr>
              <a:t>CAIO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6576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2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직접 설계·구축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(온톨로지, 자동화 파이프라인)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3657600" cy="73152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제도 설계 + 실행 지원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(4가지 제도 운영, 챔피언 육성)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087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1A"/>
                </a:solidFill>
                <a:latin typeface="Noto Sans KR Black"/>
              </a:rPr>
              <a:t>조직 성장 경로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828800"/>
            <a:ext cx="3657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Noto Sans KR"/>
              </a:rPr>
              <a:t>Phase 1  </a:t>
            </a:r>
            <a:r>
              <a:rPr sz="1100">
                <a:solidFill>
                  <a:srgbClr val="1A1A1A"/>
                </a:solidFill>
                <a:latin typeface="Noto Sans KR"/>
              </a:rPr>
              <a:t>CAIO 1인 — L1 구축 + L2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86000"/>
            <a:ext cx="3657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28600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Noto Sans KR"/>
              </a:rPr>
              <a:t>Phase 2  </a:t>
            </a:r>
            <a:r>
              <a:rPr sz="1100">
                <a:solidFill>
                  <a:srgbClr val="1A1A1A"/>
                </a:solidFill>
                <a:latin typeface="Noto Sans KR"/>
              </a:rPr>
              <a:t>챔피언 합류 + AI 챔피언 확산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743200"/>
            <a:ext cx="3657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74320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Noto Sans KR"/>
              </a:rPr>
              <a:t>Phase 3  </a:t>
            </a:r>
            <a:r>
              <a:rPr sz="1100">
                <a:solidFill>
                  <a:srgbClr val="1A1A1A"/>
                </a:solidFill>
                <a:latin typeface="Noto Sans KR"/>
              </a:rPr>
              <a:t>내부 팀 + L2→L1 편입 정례화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200400"/>
            <a:ext cx="3657600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200400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Noto Sans KR"/>
              </a:rPr>
              <a:t>Phase 4  </a:t>
            </a:r>
            <a:r>
              <a:rPr sz="1100">
                <a:solidFill>
                  <a:srgbClr val="1A1A1A"/>
                </a:solidFill>
                <a:latin typeface="Noto Sans KR"/>
              </a:rPr>
              <a:t>AI 일상화, 인당 매출 3억 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CAIO가 구조를 설계, 조직이 성장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초기 리스크의 핵심은 '불신'과 '거부'이다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C3333"/>
                </a:solidFill>
                <a:latin typeface="Noto Sans KR"/>
              </a:rPr>
              <a:t>Month 1~2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64592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리스크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83080"/>
            <a:ext cx="5486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대상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783080"/>
            <a:ext cx="27432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설명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대응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 결과 불신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57400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57400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자동화 결과 신뢰 부족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057400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담당자 첫 주 참여 + 대사 투명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048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"우리 부서는 다르다"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0487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40487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현장 특수성으로 AI 거부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4048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CAIO 직접 참여, 범위 조정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52344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조직장 반발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752344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752344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채용 동결·KPI 반영 이의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752344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사전 면담 + 글로벌 사례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998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 구축 지연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09981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09981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데이터/ERP 연동 난이도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09981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2주 내 첫 작동 결과 공개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불신과 거부 — 빠른 결과 공개로 대응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형식화와 양극화 — 동일 직무 경쟁 평가제가 대응한다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Noto Sans KR"/>
              </a:rPr>
              <a:t>Month 3~6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64592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리스크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83080"/>
            <a:ext cx="5486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대상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783080"/>
            <a:ext cx="27432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설명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대응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제도의 형식화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57400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57400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KPI만 맞추고 실질 AI 미활용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057400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P&amp;L 기반 실질 산출물 측정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048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조직장 방관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0487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40487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제도 전달 안 하고 묵인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4048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타 부서 20%↑ 시 고과 상한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52344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보상 불만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752344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752344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일은 늘고 보상은 동일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752344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외주비 절감 환원 + 챔피언 인센티브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998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L2 성과 편차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09981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09981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부서별 양극화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09981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경쟁 평가제 + CAIO 직접 지원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447288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L1 우선순위 충돌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447288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447288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동시 자동화 요청 분산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447288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P&amp;L 기준 비용 절감 기대값 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형식화와 양극화 — 경쟁 평가제로 대응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사람 의존과 안주 — L2→L1 편입 구조가 방지한다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9933"/>
                </a:solidFill>
                <a:latin typeface="Noto Sans KR"/>
              </a:rPr>
              <a:t>Month 7~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64592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리스크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83080"/>
            <a:ext cx="5486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대상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783080"/>
            <a:ext cx="274320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설명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대응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AI 챔피언 이탈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57400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57400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퇴사 시 AI 활용 후퇴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057400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L1 편입 + 복수 챔피언 지정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048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L2→L1 편입 지연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0487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40487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개인 노하우로 남음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4048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분기별 편입 검토 정례화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52344"/>
            <a:ext cx="164592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"충분히 했다" 증후군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752344"/>
            <a:ext cx="54864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752344"/>
            <a:ext cx="274320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현 수준에 안주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752344"/>
            <a:ext cx="2926080" cy="347472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외부 사례 참고 + 기준선 상향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998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1A1A"/>
                </a:solidFill>
                <a:latin typeface="Noto Sans KR"/>
              </a:rPr>
              <a:t>CAIO 1인 의존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09981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09981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부재 시 유지보수 불가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09981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  <a:latin typeface="Noto Sans KR"/>
              </a:rPr>
              <a:t>Phase 2 챔피언 육성 + 문서화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사람 의존과 안주 — L2→L1 편입으로 방지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Noto Sans KR Black"/>
              </a:rP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3657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Layer 1 — 구조화 자동화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BBBBB"/>
                </a:solidFill>
                <a:latin typeface="Noto Sans KR"/>
              </a:rPr>
              <a:t>CAIO가 매출 정산 → 강사료 → 광고비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BBBBB"/>
                </a:solidFill>
                <a:latin typeface="Noto Sans KR"/>
              </a:rPr>
              <a:t>2개월 내 완성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BBBBB"/>
                </a:solidFill>
                <a:latin typeface="Noto Sans KR"/>
              </a:rPr>
              <a:t>이후 Layer 2와 함께 고도화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657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KR"/>
              </a:rPr>
              <a:t>Layer 2 — AI 도구 활용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BBBBB"/>
                </a:solidFill>
                <a:latin typeface="Noto Sans KR"/>
              </a:rPr>
              <a:t>4가지 제도로 부서 자율 채택 유도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BBBBB"/>
                </a:solidFill>
                <a:latin typeface="Noto Sans KR"/>
              </a:rPr>
              <a:t>AI-First 채용 / KPI / 경쟁 평가 / 챔피언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BBBBB"/>
                </a:solidFill>
                <a:latin typeface="Noto Sans KR"/>
              </a:rPr>
              <a:t>즉시 시행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BBBB"/>
                </a:solidFill>
                <a:latin typeface="Noto Sans KR"/>
              </a:rPr>
              <a:t>Top-down(CAIO) + Bottom-up(각 부서) = 전사 양방향 변화 | L2 성과 → L1 편입 → 시스템 표준화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KR Black"/>
              </a:rPr>
              <a:t>인당 매출 2.34억 → 3억 원 (28%↑)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BBBB"/>
                </a:solidFill>
                <a:latin typeface="Noto Sans KR"/>
              </a:rPr>
              <a:t>Klarna 73%↑ / Shopify 127%↑ 대비 보수적 목표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Noto Sans KR Black"/>
              </a:rPr>
              <a:t>이후 실행 플랜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3840480" cy="20116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81912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① 첫 프로젝트 선정 승인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   (매출 정산 권고, 또는 다른 후보)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② 2개월 실행 계획 승인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   (매출 정산 → 강사료 → 광고비)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oto Sans KR"/>
              </a:rPr>
              <a:t>③ 담당자 프로젝트 참여 시간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508760"/>
            <a:ext cx="3840480" cy="2011680"/>
          </a:xfrm>
          <a:prstGeom prst="rect">
            <a:avLst/>
          </a:prstGeom>
          <a:solidFill>
            <a:srgbClr val="D9D9D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81912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Noto Sans KR Black"/>
              </a:rP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8745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④ AI-First 채용 원칙 도입 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774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⑤ 조직장 KPI에 인당 생산성 반영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80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Noto Sans KR"/>
              </a:rPr>
              <a:t>⑥ 동일 직무 경쟁 평가제 도입 승인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</a:rPr>
              <a:t>Layer 1은 2개월 안에 결과를 보여준다 — Layer 2는 제도로 조직이 스스로 움직이게 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Noto Sans KR"/>
              </a:rPr>
              <a:t>=&gt; </a:t>
            </a:r>
            <a:r>
              <a:rPr sz="1800" b="1">
                <a:solidFill>
                  <a:srgbClr val="1A1A1A"/>
                </a:solidFill>
                <a:latin typeface="Noto Sans KR"/>
              </a:rPr>
              <a:t>오늘 승인 시, 내일부터 실행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Noto Sans KR Black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BBBBBB"/>
                </a:solidFill>
                <a:latin typeface="Noto Sans KR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BB"/>
                </a:solidFill>
                <a:latin typeface="Noto Sans KR"/>
              </a:rPr>
              <a:t>부록 A. 이해관계자별 실행 전략 | B. Lock-in 프로세스 | C. 저항 대응 매뉴얼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BB"/>
                </a:solidFill>
                <a:latin typeface="Noto Sans KR"/>
              </a:rPr>
              <a:t>부록 D. 후보 상세 평가표 | E. K-IFRS 15 준수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KR Black"/>
        <a:ea typeface="Noto Sans KR Black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